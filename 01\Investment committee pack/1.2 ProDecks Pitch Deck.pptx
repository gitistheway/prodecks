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4" r:id="rId4"/>
    <p:sldId id="262" r:id="rId5"/>
    <p:sldId id="263" r:id="rId6"/>
    <p:sldId id="260" r:id="rId7"/>
    <p:sldId id="268" r:id="rId8"/>
    <p:sldId id="265" r:id="rId9"/>
    <p:sldId id="258" r:id="rId10"/>
    <p:sldId id="269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EF5678-E1E6-48D8-9FA3-8ED62A72B0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1H>
    <a:band2H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2H>
    <a:band1V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1V>
    <a:band2V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2V>
    <a:lastCo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Row>
    <a:seCel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seCell>
    <a:swCel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swCell>
    <a:firstRow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Row>
    <a:neCel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neCell>
    <a:nwCel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nwCell>
  </a:tblStyle>
  <a:tblStyle styleId="{7B66A8AE-BFA9-48B6-8F5E-D880610FFC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1H>
    <a:band2H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2H>
    <a:band1V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1V>
    <a:band2V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band2V>
    <a:lastCo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Row>
    <a:seCel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seCell>
    <a:swCel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swCell>
    <a:firstRow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Row>
    <a:neCel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neCell>
    <a:nwCel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5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77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2978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134;g348300ce3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587" name="Google Shape;135;g348300ce3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55;g348300ce30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31" name="Google Shape;156;g348300ce30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Google Shape;21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707" name="Google Shape;21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195;g34a9633a7f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64" name="Google Shape;196;g34a9633a7f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20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81" name="Google Shape;20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17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42" name="Google Shape;17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Google Shape;263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772" name="Google Shape;264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Google Shape;234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731" name="Google Shape;235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14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599" name="Google Shape;14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Google Shape;294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792" name="Google Shape;295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Google Shape;9;p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579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48580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3;p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644" name="Google Shape;14;p3"/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4864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864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18;p4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58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59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22;p5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666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667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720000" y="3318362"/>
            <a:ext cx="4661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668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719975" y="1734787"/>
            <a:ext cx="4661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669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719975" y="1379888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70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719975" y="2963463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71" name="Google Shape;28;p5"/>
          <p:cNvSpPr>
            <a:spLocks noGrp="1"/>
          </p:cNvSpPr>
          <p:nvPr>
            <p:ph type="pic" idx="5"/>
          </p:nvPr>
        </p:nvSpPr>
        <p:spPr>
          <a:xfrm>
            <a:off x="5696375" y="1379900"/>
            <a:ext cx="2727600" cy="286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Google Shape;30;p6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75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61" name="Google Shape;33;p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2962" name="Google Shape;34;p7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52963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</a:lvl9pPr>
          </a:lstStyle>
          <a:p>
            <a:endParaRPr/>
          </a:p>
        </p:txBody>
      </p:sp>
      <p:sp>
        <p:nvSpPr>
          <p:cNvPr id="1052964" name="Google Shape;36;p7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69" name="Google Shape;38;p8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2970" name="Google Shape;3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74" name="Google Shape;41;p9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2975" name="Google Shape;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2976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67" name="Google Shape;4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968" name="Google Shape;4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71" name="Google Shape;48;p1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2972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2973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53;p1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601" name="Google Shape;5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602" name="Google Shape;55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00863"/>
            <a:ext cx="5778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03" name="Google Shape;56;p13"/>
          <p:cNvSpPr txBox="1">
            <a:spLocks noGrp="1"/>
          </p:cNvSpPr>
          <p:nvPr>
            <p:ph type="title" idx="3" hasCustomPrompt="1"/>
          </p:nvPr>
        </p:nvSpPr>
        <p:spPr>
          <a:xfrm>
            <a:off x="4223200" y="1400840"/>
            <a:ext cx="5760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04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2472438"/>
            <a:ext cx="5778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05" name="Google Shape;58;p13"/>
          <p:cNvSpPr txBox="1">
            <a:spLocks noGrp="1"/>
          </p:cNvSpPr>
          <p:nvPr>
            <p:ph type="title" idx="5" hasCustomPrompt="1"/>
          </p:nvPr>
        </p:nvSpPr>
        <p:spPr>
          <a:xfrm>
            <a:off x="4223200" y="2472414"/>
            <a:ext cx="5760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06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3544013"/>
            <a:ext cx="5778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07" name="Google Shape;60;p13"/>
          <p:cNvSpPr txBox="1">
            <a:spLocks noGrp="1"/>
          </p:cNvSpPr>
          <p:nvPr>
            <p:ph type="title" idx="7" hasCustomPrompt="1"/>
          </p:nvPr>
        </p:nvSpPr>
        <p:spPr>
          <a:xfrm>
            <a:off x="4223200" y="3543989"/>
            <a:ext cx="5760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08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09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1292489" y="2472433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10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1292489" y="3544000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11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4799202" y="1400867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12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4799202" y="2472431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13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4799202" y="3543996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68;p14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633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</a:lvl9pPr>
          </a:lstStyle>
          <a:p>
            <a:endParaRPr/>
          </a:p>
        </p:txBody>
      </p:sp>
      <p:sp>
        <p:nvSpPr>
          <p:cNvPr id="1048634" name="Google Shape;70;p14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635" name="Google Shape;71;p14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Google Shape;73;p15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656" name="Google Shape;74;p15"/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657" name="Google Shape;75;p15"/>
          <p:cNvSpPr txBox="1">
            <a:spLocks noGrp="1"/>
          </p:cNvSpPr>
          <p:nvPr>
            <p:ph type="body" idx="1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77;p16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774" name="Google Shape;78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bg>
      <p:bgPr>
        <a:solidFill>
          <a:schemeClr val="dk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Google Shape;80;p1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836" name="Google Shape;8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83;p18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683" name="Google Shape;8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684" name="Google Shape;85;p18"/>
          <p:cNvSpPr txBox="1">
            <a:spLocks noGrp="1"/>
          </p:cNvSpPr>
          <p:nvPr>
            <p:ph type="subTitle" idx="1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685" name="Google Shape;86;p18"/>
          <p:cNvSpPr txBox="1">
            <a:spLocks noGrp="1"/>
          </p:cNvSpPr>
          <p:nvPr>
            <p:ph type="subTitle" idx="2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686" name="Google Shape;87;p18"/>
          <p:cNvSpPr txBox="1">
            <a:spLocks noGrp="1"/>
          </p:cNvSpPr>
          <p:nvPr>
            <p:ph type="subTitle" idx="3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687" name="Google Shape;88;p18"/>
          <p:cNvSpPr txBox="1">
            <a:spLocks noGrp="1"/>
          </p:cNvSpPr>
          <p:nvPr>
            <p:ph type="subTitle" idx="4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88" name="Google Shape;89;p18"/>
          <p:cNvSpPr txBox="1">
            <a:spLocks noGrp="1"/>
          </p:cNvSpPr>
          <p:nvPr>
            <p:ph type="subTitle" idx="5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89" name="Google Shape;90;p18"/>
          <p:cNvSpPr txBox="1">
            <a:spLocks noGrp="1"/>
          </p:cNvSpPr>
          <p:nvPr>
            <p:ph type="subTitle" idx="6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690" name="Google Shape;91;p18"/>
          <p:cNvSpPr txBox="1">
            <a:spLocks noGrp="1"/>
          </p:cNvSpPr>
          <p:nvPr>
            <p:ph type="title" idx="7" hasCustomPrompt="1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91" name="Google Shape;92;p18"/>
          <p:cNvSpPr txBox="1">
            <a:spLocks noGrp="1"/>
          </p:cNvSpPr>
          <p:nvPr>
            <p:ph type="title" idx="8" hasCustomPrompt="1"/>
          </p:nvPr>
        </p:nvSpPr>
        <p:spPr>
          <a:xfrm>
            <a:off x="713225" y="1556083"/>
            <a:ext cx="734700" cy="43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8692" name="Google Shape;93;p18"/>
          <p:cNvSpPr txBox="1">
            <a:spLocks noGrp="1"/>
          </p:cNvSpPr>
          <p:nvPr>
            <p:ph type="title" idx="9" hasCustomPrompt="1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Google Shape;95;p19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709" name="Google Shape;9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710" name="Google Shape;97;p19"/>
          <p:cNvSpPr txBox="1">
            <a:spLocks noGrp="1"/>
          </p:cNvSpPr>
          <p:nvPr>
            <p:ph type="subTitle" idx="1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711" name="Google Shape;98;p19"/>
          <p:cNvSpPr txBox="1">
            <a:spLocks noGrp="1"/>
          </p:cNvSpPr>
          <p:nvPr>
            <p:ph type="subTitle" idx="2"/>
          </p:nvPr>
        </p:nvSpPr>
        <p:spPr>
          <a:xfrm>
            <a:off x="4398464" y="1841263"/>
            <a:ext cx="3322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712" name="Google Shape;99;p19"/>
          <p:cNvSpPr txBox="1">
            <a:spLocks noGrp="1"/>
          </p:cNvSpPr>
          <p:nvPr>
            <p:ph type="subTitle" idx="3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713" name="Google Shape;100;p19"/>
          <p:cNvSpPr txBox="1">
            <a:spLocks noGrp="1"/>
          </p:cNvSpPr>
          <p:nvPr>
            <p:ph type="subTitle" idx="4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714" name="Google Shape;101;p19"/>
          <p:cNvSpPr txBox="1">
            <a:spLocks noGrp="1"/>
          </p:cNvSpPr>
          <p:nvPr>
            <p:ph type="subTitle" idx="5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715" name="Google Shape;102;p19"/>
          <p:cNvSpPr txBox="1">
            <a:spLocks noGrp="1"/>
          </p:cNvSpPr>
          <p:nvPr>
            <p:ph type="subTitle" idx="6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716" name="Google Shape;103;p19"/>
          <p:cNvSpPr txBox="1">
            <a:spLocks noGrp="1"/>
          </p:cNvSpPr>
          <p:nvPr>
            <p:ph type="subTitle" idx="7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48717" name="Google Shape;104;p19"/>
          <p:cNvSpPr txBox="1">
            <a:spLocks noGrp="1"/>
          </p:cNvSpPr>
          <p:nvPr>
            <p:ph type="subTitle" idx="8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Google Shape;114;p2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8813" name="Google Shape;115;p21"/>
          <p:cNvSpPr txBox="1">
            <a:spLocks noGrp="1"/>
          </p:cNvSpPr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</a:lvl9pPr>
          </a:lstStyle>
          <a:p>
            <a:endParaRPr/>
          </a:p>
        </p:txBody>
      </p:sp>
      <p:sp>
        <p:nvSpPr>
          <p:cNvPr id="1048814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9pPr>
          </a:lstStyle>
          <a:p>
            <a:endParaRPr/>
          </a:p>
        </p:txBody>
      </p:sp>
      <p:sp>
        <p:nvSpPr>
          <p:cNvPr id="1048815" name="Google Shape;117;p21"/>
          <p:cNvSpPr txBox="1"/>
          <p:nvPr/>
        </p:nvSpPr>
        <p:spPr>
          <a:xfrm>
            <a:off x="713225" y="3164478"/>
            <a:ext cx="309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 b="1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65" name="Google Shape;119;p2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966" name="Google Shape;121;p2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9" r:id="rId19"/>
    <p:sldLayoutId id="2147483670" r:id="rId20"/>
    <p:sldLayoutId id="2147483671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ai?utm_source=slidesgo_template&amp;utm_medium=referral-link&amp;utm_campaign=promo-slide&amp;utm_term=slidesgo&amp;utm_content=freepik" TargetMode="External"/><Relationship Id="rId3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7" Type="http://schemas.openxmlformats.org/officeDocument/2006/relationships/hyperlink" Target="http://bit.ly/33VAFh3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bit.ly/30B07Gq" TargetMode="External"/><Relationship Id="rId5" Type="http://schemas.openxmlformats.org/officeDocument/2006/relationships/hyperlink" Target="https://slidesgo.com/ai?utm_source=Slidesgo_template&amp;utm_medium=referral-link&amp;utm_campaign=sg_credits&amp;utm_term=Slidesgo" TargetMode="External"/><Relationship Id="rId4" Type="http://schemas.openxmlformats.org/officeDocument/2006/relationships/hyperlink" Target="https://bit.ly/3A1uf1Q" TargetMode="External"/><Relationship Id="rId9" Type="http://schemas.openxmlformats.org/officeDocument/2006/relationships/hyperlink" Target="https://www.freepik.com/?utm_source=slidesgo_template&amp;utm_medium=referral-link&amp;utm_campaign=promo-slide&amp;utm_term=slidesgo&amp;utm_content=freepik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37;p28"/>
          <p:cNvSpPr txBox="1">
            <a:spLocks noGrp="1"/>
          </p:cNvSpPr>
          <p:nvPr>
            <p:ph type="ctrTitle"/>
          </p:nvPr>
        </p:nvSpPr>
        <p:spPr>
          <a:xfrm>
            <a:off x="395536" y="708109"/>
            <a:ext cx="54078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US" sz="3200" dirty="0" err="1"/>
              <a:t>ProDecks</a:t>
            </a:r>
            <a:r>
              <a:rPr lang="en-US" sz="3200" dirty="0"/>
              <a:t>: </a:t>
            </a:r>
            <a:r>
              <a:rPr lang="fa-IR" sz="3200" dirty="0"/>
              <a:t>پلتفرم هوشمند مدیریت</a:t>
            </a:r>
            <a:br>
              <a:rPr lang="fa-IR" sz="3200" dirty="0"/>
            </a:br>
            <a:r>
              <a:rPr lang="fa-IR" sz="3200" dirty="0"/>
              <a:t> پروژه‌های تیمی</a:t>
            </a:r>
            <a:br>
              <a:rPr lang="fa-IR" sz="3200" dirty="0"/>
            </a:br>
            <a:r>
              <a:rPr lang="fa-IR" sz="3200" dirty="0"/>
              <a:t>افزایش بهره‌ وری تیم‌ها با تحلیل‌های هوش مصنوعی</a:t>
            </a:r>
            <a:endParaRPr lang="en" sz="3200" dirty="0"/>
          </a:p>
        </p:txBody>
      </p:sp>
      <p:sp>
        <p:nvSpPr>
          <p:cNvPr id="1048582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323528" y="2587270"/>
            <a:ext cx="6307046" cy="472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مأموریت: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ایجاد اکوسیستمی که تیم‌های ایرانی بتوانند با کمترین اتلاف منابع، بالاترین خروجی را تولید کنند</a:t>
            </a:r>
            <a:endParaRPr lang="en" dirty="0"/>
          </a:p>
        </p:txBody>
      </p:sp>
      <p:sp>
        <p:nvSpPr>
          <p:cNvPr id="1048583" name="Google Shape;139;p28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584" name="Google Shape;140;p28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585" name="Google Shape;141;p28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158;p30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15" name="Google Shape;159;p30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16" name="Google Shape;160;p30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17" name="Google Shape;16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مسئله - ۴ چالش اصلی تیم‌های ایرانی:</a:t>
            </a:r>
            <a:endParaRPr lang="en" dirty="0"/>
          </a:p>
        </p:txBody>
      </p:sp>
      <p:sp>
        <p:nvSpPr>
          <p:cNvPr id="1048618" name="Google Shape;162;p30"/>
          <p:cNvSpPr txBox="1">
            <a:spLocks noGrp="1"/>
          </p:cNvSpPr>
          <p:nvPr>
            <p:ph type="title" idx="2"/>
          </p:nvPr>
        </p:nvSpPr>
        <p:spPr>
          <a:xfrm>
            <a:off x="713225" y="1400863"/>
            <a:ext cx="5778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</a:p>
        </p:txBody>
      </p:sp>
      <p:sp>
        <p:nvSpPr>
          <p:cNvPr id="1048619" name="Google Shape;163;p30"/>
          <p:cNvSpPr txBox="1">
            <a:spLocks noGrp="1"/>
          </p:cNvSpPr>
          <p:nvPr>
            <p:ph type="title" idx="3"/>
          </p:nvPr>
        </p:nvSpPr>
        <p:spPr>
          <a:xfrm>
            <a:off x="4241422" y="2866913"/>
            <a:ext cx="5760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</a:t>
            </a:r>
          </a:p>
        </p:txBody>
      </p:sp>
      <p:sp>
        <p:nvSpPr>
          <p:cNvPr id="1048620" name="Google Shape;164;p30"/>
          <p:cNvSpPr txBox="1">
            <a:spLocks noGrp="1"/>
          </p:cNvSpPr>
          <p:nvPr>
            <p:ph type="title" idx="4"/>
          </p:nvPr>
        </p:nvSpPr>
        <p:spPr>
          <a:xfrm>
            <a:off x="713225" y="2472438"/>
            <a:ext cx="5778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</a:t>
            </a:r>
          </a:p>
        </p:txBody>
      </p:sp>
      <p:sp>
        <p:nvSpPr>
          <p:cNvPr id="1048622" name="Google Shape;166;p30"/>
          <p:cNvSpPr txBox="1">
            <a:spLocks noGrp="1"/>
          </p:cNvSpPr>
          <p:nvPr>
            <p:ph type="title" idx="6"/>
          </p:nvPr>
        </p:nvSpPr>
        <p:spPr>
          <a:xfrm>
            <a:off x="4241422" y="1265219"/>
            <a:ext cx="5778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</a:t>
            </a:r>
          </a:p>
        </p:txBody>
      </p:sp>
      <p:sp>
        <p:nvSpPr>
          <p:cNvPr id="1048624" name="Google Shape;168;p30"/>
          <p:cNvSpPr txBox="1">
            <a:spLocks noGrp="1"/>
          </p:cNvSpPr>
          <p:nvPr>
            <p:ph type="subTitle" idx="1"/>
          </p:nvPr>
        </p:nvSpPr>
        <p:spPr>
          <a:xfrm>
            <a:off x="1291025" y="1178869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پراکندگی ابزارها: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  استفاده همزمان از </a:t>
            </a:r>
            <a:r>
              <a:rPr lang="en-US" dirty="0"/>
              <a:t>WhatsApp، Excel، </a:t>
            </a:r>
            <a:r>
              <a:rPr lang="fa-IR" dirty="0"/>
              <a:t>ایمیل و </a:t>
            </a:r>
            <a:r>
              <a:rPr lang="en-US" dirty="0"/>
              <a:t>Trello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</a:t>
            </a:r>
            <a:endParaRPr lang="en" dirty="0"/>
          </a:p>
        </p:txBody>
      </p:sp>
      <p:sp>
        <p:nvSpPr>
          <p:cNvPr id="1048625" name="Google Shape;169;p30"/>
          <p:cNvSpPr txBox="1">
            <a:spLocks noGrp="1"/>
          </p:cNvSpPr>
          <p:nvPr>
            <p:ph type="subTitle" idx="8"/>
          </p:nvPr>
        </p:nvSpPr>
        <p:spPr>
          <a:xfrm>
            <a:off x="1187624" y="2472432"/>
            <a:ext cx="2806965" cy="81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عدم شفافیت: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بسیاری از مدیران نمی‌دانند پروژه‌ها در چه مرحله‌ای هستند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  → تصمیم‌گیری بر اساس حدس و گمان</a:t>
            </a:r>
            <a:endParaRPr lang="en" dirty="0"/>
          </a:p>
        </p:txBody>
      </p:sp>
      <p:sp>
        <p:nvSpPr>
          <p:cNvPr id="1048626" name="Google Shape;170;p30"/>
          <p:cNvSpPr txBox="1">
            <a:spLocks noGrp="1"/>
          </p:cNvSpPr>
          <p:nvPr>
            <p:ph type="subTitle" idx="9"/>
          </p:nvPr>
        </p:nvSpPr>
        <p:spPr>
          <a:xfrm>
            <a:off x="4927893" y="1265219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مدیریت ناکارآمد زمان: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  میانگین بهره‌وری واقعی تیم‌ها: ۳.۲ ساعت از ۸ ساعت کاری</a:t>
            </a:r>
            <a:endParaRPr lang="en" dirty="0"/>
          </a:p>
        </p:txBody>
      </p:sp>
      <p:sp>
        <p:nvSpPr>
          <p:cNvPr id="1048627" name="Google Shape;171;p30"/>
          <p:cNvSpPr txBox="1">
            <a:spLocks noGrp="1"/>
          </p:cNvSpPr>
          <p:nvPr>
            <p:ph type="subTitle" idx="13"/>
          </p:nvPr>
        </p:nvSpPr>
        <p:spPr>
          <a:xfrm>
            <a:off x="4932040" y="2715766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نداشتن داده برای بهبود: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  عدم امکان تحلیل عملکرد و شناسایی گلوگاه‌ها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  → تکرار اشتباهات مشابه</a:t>
            </a:r>
            <a:endParaRPr lang="e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3EC83D-388E-AE72-CD26-50795A4AB544}"/>
              </a:ext>
            </a:extLst>
          </p:cNvPr>
          <p:cNvSpPr txBox="1"/>
          <p:nvPr/>
        </p:nvSpPr>
        <p:spPr>
          <a:xfrm>
            <a:off x="1922852" y="4160830"/>
            <a:ext cx="54006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/>
              <a:t>هزینه پنهان: سالانه ۲٫۱ میلیارد تومان اتلاف منابع برای یک تیم ۲۰ نفره</a:t>
            </a:r>
            <a:endParaRPr lang="fa-I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220;p35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94" name="Google Shape;221;p35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95" name="Google Shape;222;p35"/>
          <p:cNvSpPr txBox="1"/>
          <p:nvPr/>
        </p:nvSpPr>
        <p:spPr>
          <a:xfrm>
            <a:off x="7800300" y="4851000"/>
            <a:ext cx="1020172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96" name="Google Shape;223;p35"/>
          <p:cNvSpPr txBox="1">
            <a:spLocks noGrp="1"/>
          </p:cNvSpPr>
          <p:nvPr>
            <p:ph type="title"/>
          </p:nvPr>
        </p:nvSpPr>
        <p:spPr>
          <a:xfrm>
            <a:off x="395536" y="3824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000" dirty="0"/>
              <a:t> راه‌حل</a:t>
            </a:r>
            <a:r>
              <a:rPr lang="en-US" sz="4000" dirty="0"/>
              <a:t> </a:t>
            </a:r>
            <a:endParaRPr lang="en" sz="4000" dirty="0"/>
          </a:p>
        </p:txBody>
      </p:sp>
      <p:sp>
        <p:nvSpPr>
          <p:cNvPr id="1048697" name="Google Shape;224;p35"/>
          <p:cNvSpPr txBox="1">
            <a:spLocks noGrp="1"/>
          </p:cNvSpPr>
          <p:nvPr>
            <p:ph type="subTitle" idx="4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dirty="0"/>
              <a:t>هوش مصنوعی برای بهره‌ وری</a:t>
            </a:r>
            <a:endParaRPr lang="en" sz="2000" dirty="0"/>
          </a:p>
        </p:txBody>
      </p:sp>
      <p:sp>
        <p:nvSpPr>
          <p:cNvPr id="1048698" name="Google Shape;225;p35"/>
          <p:cNvSpPr txBox="1">
            <a:spLocks noGrp="1"/>
          </p:cNvSpPr>
          <p:nvPr>
            <p:ph type="subTitle" idx="5"/>
          </p:nvPr>
        </p:nvSpPr>
        <p:spPr>
          <a:xfrm>
            <a:off x="2994886" y="1695429"/>
            <a:ext cx="25053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dirty="0"/>
              <a:t>تحلیل داده ها و نمودار ها</a:t>
            </a:r>
            <a:endParaRPr lang="en" sz="2000" dirty="0"/>
          </a:p>
        </p:txBody>
      </p:sp>
      <p:sp>
        <p:nvSpPr>
          <p:cNvPr id="1048699" name="Google Shape;226;p35"/>
          <p:cNvSpPr txBox="1">
            <a:spLocks noGrp="1"/>
          </p:cNvSpPr>
          <p:nvPr>
            <p:ph type="subTitle" idx="1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· پیش‌بینی زمان تکمیل پروژه‌ها با دقت بالا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· شناسایی خودکار گلوگاه‌ها     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· پیشنهاد تخصیص بهینه وظایف       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a-I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a-I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          </a:t>
            </a:r>
            <a:endParaRPr lang="en" dirty="0"/>
          </a:p>
        </p:txBody>
      </p:sp>
      <p:sp>
        <p:nvSpPr>
          <p:cNvPr id="1048701" name="Google Shape;228;p35"/>
          <p:cNvSpPr txBox="1">
            <a:spLocks noGrp="1"/>
          </p:cNvSpPr>
          <p:nvPr>
            <p:ph type="subTitle" idx="3"/>
          </p:nvPr>
        </p:nvSpPr>
        <p:spPr>
          <a:xfrm>
            <a:off x="6119001" y="2498698"/>
            <a:ext cx="25053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· سیستم سطح‌بندی و تجربه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· </a:t>
            </a:r>
            <a:r>
              <a:rPr lang="fa-IR" dirty="0"/>
              <a:t>دستاوردهای تیمی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· رقابت سالم بین تیم‌ها</a:t>
            </a:r>
            <a:endParaRPr lang="en" dirty="0"/>
          </a:p>
        </p:txBody>
      </p:sp>
      <p:sp>
        <p:nvSpPr>
          <p:cNvPr id="1048702" name="Google Shape;229;p35"/>
          <p:cNvSpPr txBox="1">
            <a:spLocks noGrp="1"/>
          </p:cNvSpPr>
          <p:nvPr>
            <p:ph type="subTitle" idx="6"/>
          </p:nvPr>
        </p:nvSpPr>
        <p:spPr>
          <a:xfrm>
            <a:off x="6119001" y="1663431"/>
            <a:ext cx="25053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000" dirty="0"/>
              <a:t> گیمیفیکیشن و انگیزش</a:t>
            </a:r>
            <a:endParaRPr lang="en" sz="2000" dirty="0"/>
          </a:p>
        </p:txBody>
      </p:sp>
      <p:sp>
        <p:nvSpPr>
          <p:cNvPr id="1048703" name="Google Shape;230;p35"/>
          <p:cNvSpPr txBox="1">
            <a:spLocks noGrp="1"/>
          </p:cNvSpPr>
          <p:nvPr>
            <p:ph type="title" idx="7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</a:p>
        </p:txBody>
      </p:sp>
      <p:sp>
        <p:nvSpPr>
          <p:cNvPr id="1048704" name="Google Shape;231;p35"/>
          <p:cNvSpPr txBox="1">
            <a:spLocks noGrp="1"/>
          </p:cNvSpPr>
          <p:nvPr>
            <p:ph type="title" idx="8"/>
          </p:nvPr>
        </p:nvSpPr>
        <p:spPr>
          <a:xfrm>
            <a:off x="713225" y="1556083"/>
            <a:ext cx="734700" cy="4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</a:p>
        </p:txBody>
      </p:sp>
      <p:sp>
        <p:nvSpPr>
          <p:cNvPr id="1048705" name="Google Shape;232;p35"/>
          <p:cNvSpPr txBox="1">
            <a:spLocks noGrp="1"/>
          </p:cNvSpPr>
          <p:nvPr>
            <p:ph type="title" idx="9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8608F-6CA2-14A1-E33B-A156742E8B3F}"/>
              </a:ext>
            </a:extLst>
          </p:cNvPr>
          <p:cNvSpPr txBox="1"/>
          <p:nvPr/>
        </p:nvSpPr>
        <p:spPr>
          <a:xfrm>
            <a:off x="3643894" y="2401640"/>
            <a:ext cx="2180796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/>
              <a:t>جمع آوری و تحلیل داده های </a:t>
            </a:r>
            <a:r>
              <a:rPr lang="en-US" dirty="0"/>
              <a:t>workflow</a:t>
            </a:r>
            <a:r>
              <a:rPr lang="fa-IR" dirty="0"/>
              <a:t>   </a:t>
            </a:r>
            <a:r>
              <a:rPr lang="en-US" dirty="0"/>
              <a:t> </a:t>
            </a:r>
            <a:endParaRPr lang="en" dirty="0"/>
          </a:p>
          <a:p>
            <a:pPr algn="r"/>
            <a:endParaRPr lang="fa-I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198;p33"/>
          <p:cNvSpPr txBox="1">
            <a:spLocks noGrp="1"/>
          </p:cNvSpPr>
          <p:nvPr>
            <p:ph type="title"/>
          </p:nvPr>
        </p:nvSpPr>
        <p:spPr>
          <a:xfrm>
            <a:off x="827584" y="339502"/>
            <a:ext cx="7717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بازار ایران - فرصتی طلایی و رو به رشد</a:t>
            </a:r>
            <a:endParaRPr lang="en" dirty="0"/>
          </a:p>
        </p:txBody>
      </p:sp>
      <p:sp>
        <p:nvSpPr>
          <p:cNvPr id="104865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3471300" y="1203598"/>
            <a:ext cx="49419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400" dirty="0"/>
              <a:t>بازار ایران در میانه یک تحول دیجیتال سریع قرار دارد. با افزایش چشمگیر شمار استارتاپ‌ها، توسعه کسب‌وکارهای کوچک و متوسط، و شتاب سازمان‌ها به سمت روش‌های کاری مدرن، تقاضا برای ابزارهای مدیریت پروژه کارآمد و بومی در حال انفجار است.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fa-IR" sz="14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400" dirty="0"/>
              <a:t>فضای کنونی بازار از یک سو با تکیه بر راه‌حل‌های سنتی و پراکنده شناخته می‌شود و از سوی دیگر با محدودیت دسترسی به ابزارهای بین‌المللی به دلیل مسائل مالی و زبانی روبرو است. این شکاف عمیق، فرصتی استثنایی برای ارائه یک راه‌حل یکپارچه، مقرون به‌صرفه و هم‌زبان با نیازهای خاص محیط کسب‌وکار ایران ایجاد کرده است.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fa-IR" sz="14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400" dirty="0"/>
              <a:t>رشد فرهنگ کار تیمی، اهمیت یافتن مدیریت مبتنی بر داده، و جهت‌گیری به سمت بهره‌وری بالاتر، همگی نشان از آمادگی بازار برای پذیرش راه‌حلی نوآورانه مانند </a:t>
            </a:r>
            <a:r>
              <a:rPr lang="en-US" sz="1400" dirty="0" err="1"/>
              <a:t>ProDecks</a:t>
            </a:r>
            <a:r>
              <a:rPr lang="en-US" sz="1400" dirty="0"/>
              <a:t> </a:t>
            </a:r>
            <a:r>
              <a:rPr lang="fa-IR" sz="1400" dirty="0"/>
              <a:t>دارند. این بازار نه تنها بزرگ و در حال گسترش است، بلکه از بلوغ لازم برای درک ارزش واقعی یک پلتفرم هوشمند برخوردار است.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" sz="1400" dirty="0"/>
          </a:p>
        </p:txBody>
      </p:sp>
      <p:sp>
        <p:nvSpPr>
          <p:cNvPr id="1048660" name="Google Shape;200;p33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61" name="Google Shape;201;p33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62" name="Google Shape;202;p33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Google Shape;207;p34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73" name="Google Shape;208;p34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74" name="Google Shape;209;p34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75" name="Google Shape;210;p34"/>
          <p:cNvSpPr txBox="1">
            <a:spLocks noGrp="1"/>
          </p:cNvSpPr>
          <p:nvPr>
            <p:ph type="subTitle" idx="4"/>
          </p:nvPr>
        </p:nvSpPr>
        <p:spPr>
          <a:xfrm>
            <a:off x="4504549" y="1047218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🔄 </a:t>
            </a:r>
            <a:r>
              <a:rPr lang="fa-IR" sz="2400" dirty="0"/>
              <a:t>بازخوردهای بهبود</a:t>
            </a:r>
            <a:endParaRPr lang="en" sz="2400" dirty="0"/>
          </a:p>
        </p:txBody>
      </p:sp>
      <p:sp>
        <p:nvSpPr>
          <p:cNvPr id="1048676" name="Google Shape;211;p34"/>
          <p:cNvSpPr txBox="1">
            <a:spLocks noGrp="1"/>
          </p:cNvSpPr>
          <p:nvPr>
            <p:ph type="title"/>
          </p:nvPr>
        </p:nvSpPr>
        <p:spPr>
          <a:xfrm>
            <a:off x="611560" y="1671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 محصول - نوآوری در عمل</a:t>
            </a:r>
            <a:endParaRPr lang="en" dirty="0"/>
          </a:p>
        </p:txBody>
      </p:sp>
      <p:sp>
        <p:nvSpPr>
          <p:cNvPr id="1048677" name="Google Shape;212;p34"/>
          <p:cNvSpPr txBox="1">
            <a:spLocks noGrp="1"/>
          </p:cNvSpPr>
          <p:nvPr>
            <p:ph type="subTitle" idx="1"/>
          </p:nvPr>
        </p:nvSpPr>
        <p:spPr>
          <a:xfrm>
            <a:off x="4572000" y="1625480"/>
            <a:ext cx="4661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/>
              <a:t>· نیاز به گزارش‌های پیشرفته‌تر (در حال توسعه)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/>
              <a:t>· درخواست اپ موبایل (برنامه‌ریزی شده برای ماه ۹)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/>
              <a:t>· ادغام با ابزارهای ایرانی (در دست اقدام)</a:t>
            </a:r>
            <a:endParaRPr lang="en" sz="1600" dirty="0"/>
          </a:p>
        </p:txBody>
      </p:sp>
      <p:sp>
        <p:nvSpPr>
          <p:cNvPr id="1048678" name="Google Shape;213;p34"/>
          <p:cNvSpPr txBox="1">
            <a:spLocks noGrp="1"/>
          </p:cNvSpPr>
          <p:nvPr>
            <p:ph type="subTitle" idx="2"/>
          </p:nvPr>
        </p:nvSpPr>
        <p:spPr>
          <a:xfrm>
            <a:off x="179512" y="1545294"/>
            <a:ext cx="4661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/>
              <a:t>· رابط کاربری ساده و فارسی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/>
              <a:t>· عملکرد پایدار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/>
              <a:t>· زمان یادگیری سریع (کمتر از ۳۰ دقیقه)</a:t>
            </a:r>
          </a:p>
        </p:txBody>
      </p:sp>
      <p:sp>
        <p:nvSpPr>
          <p:cNvPr id="1048679" name="Google Shape;214;p34"/>
          <p:cNvSpPr txBox="1">
            <a:spLocks noGrp="1"/>
          </p:cNvSpPr>
          <p:nvPr>
            <p:ph type="subTitle" idx="3"/>
          </p:nvPr>
        </p:nvSpPr>
        <p:spPr>
          <a:xfrm>
            <a:off x="108563" y="1114194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✅ </a:t>
            </a:r>
            <a:r>
              <a:rPr lang="fa-IR" sz="2400" dirty="0"/>
              <a:t>نقاط قوت تأیید شده</a:t>
            </a:r>
            <a:endParaRPr lang="e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2CDA0-7DE3-6B42-F5D1-C5D7AA4BF2A7}"/>
              </a:ext>
            </a:extLst>
          </p:cNvPr>
          <p:cNvSpPr txBox="1"/>
          <p:nvPr/>
        </p:nvSpPr>
        <p:spPr>
          <a:xfrm>
            <a:off x="2267744" y="2977282"/>
            <a:ext cx="374441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2400" dirty="0"/>
              <a:t>رودمپ محصول (۱۲ ماه آینده)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CACC9-F78D-6AD8-D120-A8063222657D}"/>
              </a:ext>
            </a:extLst>
          </p:cNvPr>
          <p:cNvSpPr txBox="1"/>
          <p:nvPr/>
        </p:nvSpPr>
        <p:spPr>
          <a:xfrm>
            <a:off x="1835696" y="3490697"/>
            <a:ext cx="4848023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sz="1600" dirty="0"/>
              <a:t>· ماه ۱-۳: بهبود هسته بر اساس بازخورد</a:t>
            </a:r>
          </a:p>
          <a:p>
            <a:pPr algn="ctr"/>
            <a:r>
              <a:rPr lang="fa-IR" sz="1600" dirty="0"/>
              <a:t>· ماه ۴-۶: اضافه شدن تحلیل‌های پیشرفته</a:t>
            </a:r>
          </a:p>
          <a:p>
            <a:pPr algn="ctr"/>
            <a:r>
              <a:rPr lang="fa-IR" sz="1600" dirty="0"/>
              <a:t>· ماه ۷-۹: راه‌اندازی اپ موبایل</a:t>
            </a:r>
          </a:p>
          <a:p>
            <a:pPr algn="ctr"/>
            <a:r>
              <a:rPr lang="fa-IR" sz="1600" dirty="0"/>
              <a:t>· ماه ۱۰-۱۲: بازارگستری به سازمان‌های بزرگ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178;p3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-15" r="-15"/>
          <a:stretch/>
        </p:blipFill>
        <p:spPr>
          <a:xfrm>
            <a:off x="5364088" y="1383618"/>
            <a:ext cx="3384376" cy="2376264"/>
          </a:xfrm>
          <a:prstGeom prst="roundRect">
            <a:avLst>
              <a:gd name="adj" fmla="val 3001"/>
            </a:avLst>
          </a:prstGeom>
        </p:spPr>
      </p:pic>
      <p:sp>
        <p:nvSpPr>
          <p:cNvPr id="1048636" name="Google Shape;179;p31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37" name="Google Shape;180;p31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38" name="Google Shape;181;p31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640" name="Google Shape;183;p31"/>
          <p:cNvSpPr txBox="1">
            <a:spLocks noGrp="1"/>
          </p:cNvSpPr>
          <p:nvPr>
            <p:ph type="subTitle" idx="1"/>
          </p:nvPr>
        </p:nvSpPr>
        <p:spPr>
          <a:xfrm>
            <a:off x="323528" y="987574"/>
            <a:ext cx="5112568" cy="3600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400" dirty="0"/>
              <a:t>مدل درآمدی بر پایه چارچوب فریمیوم  طراحی شده است که امکان جذب گسترده کاربران و تبدیل تدریجی آنان به مشتریان پریمیوم را فراهم می‌آورد. این مدل با ارائه یک نسخه رایگان با قابلیت‌های پایه، اعتماد و وابستگی کاربران را جلب کرده و مسیر همواری برای ارتقا به طرح‌های پولی با امکانات پیشرفته ایجاد می‌کند.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a-IR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400" dirty="0"/>
              <a:t>طرح‌های پولی در دو سطح حرفه‌ای و سازمانی ارائه می‌شوند که پاسخگوی نیازهای تیم‌های در حال رشد و سازمان‌های بزرگ است. تمرکز اصلی بر ایجاد ارزش افزوده محسوس در هر سطح است، به طوری که کاربران با گسترش فعالیت خود، انگیزه طبیعی برای ارتقای حساب کاربری پیدا کنند.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a-IR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400" dirty="0"/>
              <a:t>این مدل نه تنها جریان درآمدی قابل پیش‌بینی و مکرر ایجاد می‌کند، بلکه با رشد کاربران، هزینه ارائه خدمات به ازای هر کاربر کاهش یافته و حاشیه سود بهبود می‌یابد. تجربه بازارهای مشابه نشان داده که نرخ تبدیل کاربران رایگان به پولی در چنین مدلی می‌تواند بسیار امیدوارکننده باشد و پایه‌ای مستحکم برای رشد بلندمدت ایجاد کند. انتظار می‌رود با اجرای صحیح این مدل، شرکت در بازه زمانی معقولی به نقطه سربه‌سری عملیاتی رسیده و سپس به سودآوری پایدار دست یابد.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A40ED-6FA0-E128-5443-7ABA85FB72A9}"/>
              </a:ext>
            </a:extLst>
          </p:cNvPr>
          <p:cNvSpPr txBox="1"/>
          <p:nvPr/>
        </p:nvSpPr>
        <p:spPr>
          <a:xfrm>
            <a:off x="2267744" y="293843"/>
            <a:ext cx="288032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2800" dirty="0"/>
              <a:t>مدل درامدی –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E8CA3-797A-6CD2-3B74-BCFD01A9F06A}"/>
              </a:ext>
            </a:extLst>
          </p:cNvPr>
          <p:cNvSpPr txBox="1"/>
          <p:nvPr/>
        </p:nvSpPr>
        <p:spPr>
          <a:xfrm>
            <a:off x="611560" y="293843"/>
            <a:ext cx="180530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dirty="0"/>
              <a:t>Freemium</a:t>
            </a:r>
            <a:endParaRPr lang="fa-IR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Google Shape;26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مزیت رقابتی</a:t>
            </a:r>
            <a:endParaRPr lang="en" dirty="0"/>
          </a:p>
        </p:txBody>
      </p:sp>
      <p:sp>
        <p:nvSpPr>
          <p:cNvPr id="1048753" name="Google Shape;267;p38"/>
          <p:cNvSpPr txBox="1"/>
          <p:nvPr/>
        </p:nvSpPr>
        <p:spPr>
          <a:xfrm>
            <a:off x="815734" y="1018905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مزیت داده</a:t>
            </a:r>
            <a:endParaRPr sz="24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48755" name="Google Shape;269;p38"/>
          <p:cNvSpPr txBox="1"/>
          <p:nvPr/>
        </p:nvSpPr>
        <p:spPr>
          <a:xfrm>
            <a:off x="668510" y="3068177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هزینه جابجایی بالا</a:t>
            </a:r>
            <a:endParaRPr sz="16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48756" name="Google Shape;270;p38"/>
          <p:cNvSpPr txBox="1"/>
          <p:nvPr/>
        </p:nvSpPr>
        <p:spPr>
          <a:xfrm>
            <a:off x="6369937" y="1091825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اثر شبکه (</a:t>
            </a:r>
            <a:r>
              <a:rPr lang="en-US" sz="16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Network Effect)</a:t>
            </a:r>
            <a:endParaRPr sz="16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48758" name="Google Shape;272;p38"/>
          <p:cNvSpPr txBox="1"/>
          <p:nvPr/>
        </p:nvSpPr>
        <p:spPr>
          <a:xfrm>
            <a:off x="6361257" y="3100583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600" dirty="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تخصص بازار محلی</a:t>
            </a:r>
            <a:endParaRPr sz="1600" dirty="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48759" name="Google Shape;273;p38"/>
          <p:cNvSpPr txBox="1"/>
          <p:nvPr/>
        </p:nvSpPr>
        <p:spPr>
          <a:xfrm>
            <a:off x="1091187" y="1631363"/>
            <a:ext cx="20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جمع‌آوری الگوهای کاری منحصربه‌فرد تیم‌های ایرانی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ایجاد پایگاه داده ۱۰۰,۰۰۰+ ساعتی از الگوهای کاری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غیرقابل تکثیر توسط رقبای بین‌المللی</a:t>
            </a:r>
          </a:p>
        </p:txBody>
      </p:sp>
      <p:sp>
        <p:nvSpPr>
          <p:cNvPr id="1048761" name="Google Shape;275;p38"/>
          <p:cNvSpPr txBox="1"/>
          <p:nvPr/>
        </p:nvSpPr>
        <p:spPr>
          <a:xfrm>
            <a:off x="843708" y="3724542"/>
            <a:ext cx="2455649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یکپارچه‌سازی عمیق با فرآیندهای کاری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ذخیره‌سازی داده‌ها در فرمت اختصاصی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زمان انتقال به رقیب: ۴۰+ ساعت برای تیم ۱۰ نفره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62" name="Google Shape;276;p38"/>
          <p:cNvSpPr txBox="1"/>
          <p:nvPr/>
        </p:nvSpPr>
        <p:spPr>
          <a:xfrm>
            <a:off x="6369938" y="1692729"/>
            <a:ext cx="216250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با رشد کاربران، کیفیت پیش‌بینی‌های هوش مصنوعی بهبود می‌یابد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ایجاد اکوسیستم تمپلیت‌های اشتراکی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هدف: ۵۰٪ کاربران دارای ارتباط بین‌تیمی تا ماه ۱۸</a:t>
            </a:r>
          </a:p>
        </p:txBody>
      </p:sp>
      <p:sp>
        <p:nvSpPr>
          <p:cNvPr id="1048764" name="Google Shape;278;p38"/>
          <p:cNvSpPr txBox="1"/>
          <p:nvPr/>
        </p:nvSpPr>
        <p:spPr>
          <a:xfrm>
            <a:off x="6419890" y="3745277"/>
            <a:ext cx="2450534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درک عمیق از فرهنگ کاری ایرانی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پشتیبانی فارسی ۲۴/۷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قیمت‌گذاری به ریال و پشتیبانی از درگاه‌های ایرانی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65" name="Google Shape;279;p38"/>
          <p:cNvSpPr/>
          <p:nvPr/>
        </p:nvSpPr>
        <p:spPr>
          <a:xfrm>
            <a:off x="3868288" y="1390393"/>
            <a:ext cx="1407579" cy="2685758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Google Shape;280;p38"/>
          <p:cNvGrpSpPr/>
          <p:nvPr/>
        </p:nvGrpSpPr>
        <p:grpSpPr>
          <a:xfrm>
            <a:off x="3796173" y="1236027"/>
            <a:ext cx="1551654" cy="3149588"/>
            <a:chOff x="5186401" y="494525"/>
            <a:chExt cx="1834973" cy="3724678"/>
          </a:xfrm>
        </p:grpSpPr>
        <p:sp>
          <p:nvSpPr>
            <p:cNvPr id="1048766" name="Google Shape;281;p38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67" name="Google Shape;282;p38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97154" name="Google Shape;283;p38" title="surreal-geometric-shapes-barren-desert.jpg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10685" r="10685"/>
          <a:stretch>
            <a:fillRect/>
          </a:stretch>
        </p:blipFill>
        <p:spPr>
          <a:xfrm>
            <a:off x="3868295" y="1390396"/>
            <a:ext cx="1407612" cy="26859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5728" name="Google Shape;284;p38"/>
          <p:cNvCxnSpPr>
            <a:cxnSpLocks/>
            <a:stCxn id="1048753" idx="3"/>
          </p:cNvCxnSpPr>
          <p:nvPr/>
        </p:nvCxnSpPr>
        <p:spPr>
          <a:xfrm>
            <a:off x="2871334" y="1357455"/>
            <a:ext cx="1658400" cy="244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45730" name="Google Shape;286;p38"/>
          <p:cNvCxnSpPr>
            <a:cxnSpLocks/>
            <a:stCxn id="1048755" idx="3"/>
          </p:cNvCxnSpPr>
          <p:nvPr/>
        </p:nvCxnSpPr>
        <p:spPr>
          <a:xfrm rot="10800000" flipH="1">
            <a:off x="2724110" y="2780327"/>
            <a:ext cx="1749000" cy="626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45731" name="Google Shape;287;p38"/>
          <p:cNvCxnSpPr>
            <a:cxnSpLocks/>
          </p:cNvCxnSpPr>
          <p:nvPr/>
        </p:nvCxnSpPr>
        <p:spPr>
          <a:xfrm flipH="1">
            <a:off x="4728337" y="1430538"/>
            <a:ext cx="1641600" cy="597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145733" name="Google Shape;289;p38"/>
          <p:cNvCxnSpPr>
            <a:cxnSpLocks/>
            <a:stCxn id="1048758" idx="1"/>
          </p:cNvCxnSpPr>
          <p:nvPr/>
        </p:nvCxnSpPr>
        <p:spPr>
          <a:xfrm flipH="1">
            <a:off x="4514457" y="3439133"/>
            <a:ext cx="1846800" cy="18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48768" name="Google Shape;290;p38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69" name="Google Shape;291;p38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70" name="Google Shape;292;p38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Google Shape;237;p36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19" name="Google Shape;238;p36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20" name="Google Shape;239;p36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21" name="Google Shape;240;p36"/>
          <p:cNvSpPr txBox="1">
            <a:spLocks noGrp="1"/>
          </p:cNvSpPr>
          <p:nvPr>
            <p:ph type="subTitle" idx="6"/>
          </p:nvPr>
        </p:nvSpPr>
        <p:spPr>
          <a:xfrm>
            <a:off x="5703900" y="1105070"/>
            <a:ext cx="3322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solidFill>
                  <a:srgbClr val="FF0000"/>
                </a:solidFill>
              </a:rPr>
              <a:t>تیم‌های پروژه در سازمان‌های بزرگ</a:t>
            </a:r>
            <a:endParaRPr lang="en" dirty="0">
              <a:solidFill>
                <a:srgbClr val="FF0000"/>
              </a:solidFill>
            </a:endParaRPr>
          </a:p>
        </p:txBody>
      </p:sp>
      <p:sp>
        <p:nvSpPr>
          <p:cNvPr id="1048722" name="Google Shape;241;p36"/>
          <p:cNvSpPr txBox="1">
            <a:spLocks noGrp="1"/>
          </p:cNvSpPr>
          <p:nvPr>
            <p:ph type="title"/>
          </p:nvPr>
        </p:nvSpPr>
        <p:spPr>
          <a:xfrm>
            <a:off x="546441" y="22539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4400" dirty="0"/>
              <a:t>مشتری هدف </a:t>
            </a:r>
            <a:endParaRPr lang="en" sz="4400" dirty="0"/>
          </a:p>
        </p:txBody>
      </p:sp>
      <p:sp>
        <p:nvSpPr>
          <p:cNvPr id="1048727" name="Google Shape;246;p36"/>
          <p:cNvSpPr txBox="1">
            <a:spLocks noGrp="1"/>
          </p:cNvSpPr>
          <p:nvPr>
            <p:ph type="subTitle" idx="5"/>
          </p:nvPr>
        </p:nvSpPr>
        <p:spPr>
          <a:xfrm>
            <a:off x="117900" y="1078400"/>
            <a:ext cx="3157956" cy="8452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solidFill>
                  <a:srgbClr val="FF0000"/>
                </a:solidFill>
              </a:rPr>
              <a:t>استارتاپ‌ها و تیم‌های فناوری  </a:t>
            </a:r>
            <a:r>
              <a:rPr lang="en-US" dirty="0">
                <a:solidFill>
                  <a:srgbClr val="FF0000"/>
                </a:solidFill>
              </a:rPr>
              <a:t> Early Adopters</a:t>
            </a:r>
            <a:endParaRPr lang="en" dirty="0">
              <a:solidFill>
                <a:srgbClr val="FF0000"/>
              </a:solidFill>
            </a:endParaRPr>
          </a:p>
        </p:txBody>
      </p:sp>
      <p:sp>
        <p:nvSpPr>
          <p:cNvPr id="1048728" name="Google Shape;247;p36"/>
          <p:cNvSpPr txBox="1">
            <a:spLocks noGrp="1"/>
          </p:cNvSpPr>
          <p:nvPr>
            <p:ph type="subTitle" idx="7"/>
          </p:nvPr>
        </p:nvSpPr>
        <p:spPr>
          <a:xfrm>
            <a:off x="3167844" y="1219907"/>
            <a:ext cx="2808312" cy="5622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>
                <a:solidFill>
                  <a:srgbClr val="FF0000"/>
                </a:solidFill>
              </a:rPr>
              <a:t>شرکت‌های کوچک و متوسط </a:t>
            </a:r>
            <a:r>
              <a:rPr lang="en-US" dirty="0">
                <a:solidFill>
                  <a:srgbClr val="FF0000"/>
                </a:solidFill>
              </a:rPr>
              <a:t> SMEs</a:t>
            </a:r>
            <a:endParaRPr lang="en" dirty="0">
              <a:solidFill>
                <a:srgbClr val="FF0000"/>
              </a:solidFill>
            </a:endParaRPr>
          </a:p>
        </p:txBody>
      </p:sp>
      <p:sp>
        <p:nvSpPr>
          <p:cNvPr id="1048729" name="Google Shape;248;p36"/>
          <p:cNvSpPr txBox="1">
            <a:spLocks noGrp="1"/>
          </p:cNvSpPr>
          <p:nvPr>
            <p:ph type="subTitle" idx="8"/>
          </p:nvPr>
        </p:nvSpPr>
        <p:spPr>
          <a:xfrm>
            <a:off x="2987824" y="2485436"/>
            <a:ext cx="3322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/>
              <a:t>استراتژی ورود به بازار</a:t>
            </a:r>
            <a:endParaRPr lang="en" sz="2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E2DC85-2618-3E4D-F08E-65436C5B9387}"/>
              </a:ext>
            </a:extLst>
          </p:cNvPr>
          <p:cNvCxnSpPr>
            <a:cxnSpLocks/>
          </p:cNvCxnSpPr>
          <p:nvPr/>
        </p:nvCxnSpPr>
        <p:spPr>
          <a:xfrm flipV="1">
            <a:off x="5976156" y="900989"/>
            <a:ext cx="0" cy="12387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C02D3F-3F0B-5E43-205F-8F0D0E01FAF8}"/>
              </a:ext>
            </a:extLst>
          </p:cNvPr>
          <p:cNvCxnSpPr>
            <a:cxnSpLocks/>
          </p:cNvCxnSpPr>
          <p:nvPr/>
        </p:nvCxnSpPr>
        <p:spPr>
          <a:xfrm flipV="1">
            <a:off x="3167844" y="966418"/>
            <a:ext cx="0" cy="12387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DEDDE3-D5EA-5C45-0CE6-6587B7C5187D}"/>
              </a:ext>
            </a:extLst>
          </p:cNvPr>
          <p:cNvSpPr txBox="1"/>
          <p:nvPr/>
        </p:nvSpPr>
        <p:spPr>
          <a:xfrm>
            <a:off x="2339752" y="3326435"/>
            <a:ext cx="47874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dirty="0"/>
              <a:t>ماه ۱-۶: تمرکز بر استارتاپ‌ها (قیمت حساس، تأثیر بالا)</a:t>
            </a:r>
          </a:p>
          <a:p>
            <a:r>
              <a:rPr lang="fa-IR" sz="1600" dirty="0"/>
              <a:t>· ماه ۷-۱۲: توسعه به </a:t>
            </a:r>
            <a:r>
              <a:rPr lang="en-US" sz="1600" dirty="0"/>
              <a:t>SMEs (</a:t>
            </a:r>
            <a:r>
              <a:rPr lang="fa-IR" sz="1600" dirty="0"/>
              <a:t>حجم متوسط، وفاداری بالا)</a:t>
            </a:r>
          </a:p>
          <a:p>
            <a:r>
              <a:rPr lang="fa-IR" sz="1600" dirty="0"/>
              <a:t>· ماه ۱۳-۱۸: ورود به سازمان‌ها (ارزش بالا، چرخه فروش طولانی)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146;p29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592" name="Google Shape;147;p29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593" name="Google Shape;148;p29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594" name="Google Shape;14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</a:p>
        </p:txBody>
      </p:sp>
      <p:sp>
        <p:nvSpPr>
          <p:cNvPr id="1048595" name="Google Shape;150;p29"/>
          <p:cNvSpPr txBox="1">
            <a:spLocks noGrp="1"/>
          </p:cNvSpPr>
          <p:nvPr>
            <p:ph type="body" idx="1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delete this slide when you’re done editing the presentation</a:t>
            </a:r>
          </a:p>
        </p:txBody>
      </p:sp>
      <p:graphicFrame>
        <p:nvGraphicFramePr>
          <p:cNvPr id="4194304" name="Google Shape;151;p29"/>
          <p:cNvGraphicFramePr>
            <a:graphicFrameLocks/>
          </p:cNvGraphicFramePr>
          <p:nvPr/>
        </p:nvGraphicFramePr>
        <p:xfrm>
          <a:off x="720000" y="1772025"/>
          <a:ext cx="7704000" cy="2169150"/>
        </p:xfrm>
        <a:graphic>
          <a:graphicData uri="http://schemas.openxmlformats.org/drawingml/2006/table">
            <a:tbl>
              <a:tblPr>
                <a:noFill/>
                <a:tableStyleId>{BCEF5678-E1E6-48D8-9FA3-8ED62A72B068}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  <a:hlinkClick r:id="" action="ppaction://noaction"/>
                        </a:rPr>
                        <a:t>Fonts</a:t>
                      </a:r>
                      <a:endParaRPr sz="1000" u="sng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  <a:hlinkClick r:id="" action="ppaction://noaction"/>
                        </a:rPr>
                        <a:t>Used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and </a:t>
                      </a:r>
                      <a:r>
                        <a:rPr lang="en" sz="1000" u="sng" dirty="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  <a:hlinkClick r:id="" action="ppaction://noaction"/>
                        </a:rPr>
                        <a:t>alternative resources</a:t>
                      </a:r>
                      <a:endParaRPr sz="1000" u="sng" dirty="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 assortment of graphic resources that are suitable for use in this presentation</a:t>
                      </a:r>
                      <a:endParaRPr sz="10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  <a:hlinkClick r:id="" action="ppaction://noaction"/>
                        </a:rPr>
                        <a:t>Thanks slide</a:t>
                      </a:r>
                      <a:endParaRPr sz="1000" u="sng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  <a:hlinkClick r:id="" action="ppaction://noaction"/>
                        </a:rPr>
                        <a:t>Colors</a:t>
                      </a:r>
                      <a:endParaRPr sz="1000" u="sng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  <a:hlinkClick r:id="" action="ppaction://noaction"/>
                        </a:rPr>
                        <a:t>Icons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and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  <a:hlinkClick r:id="" action="ppaction://noaction"/>
                        </a:rPr>
                        <a:t>infographic resources</a:t>
                      </a:r>
                      <a:endParaRPr sz="1000" u="sng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Editable presentation theme 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You can edit the master slides easily. For more info, click </a:t>
                      </a:r>
                      <a:r>
                        <a:rPr lang="en" sz="1000" b="1" u="sng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here</a:t>
                      </a:r>
                      <a:endParaRPr sz="10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96" name="Google Shape;152;p29"/>
          <p:cNvSpPr txBox="1"/>
          <p:nvPr/>
        </p:nvSpPr>
        <p:spPr>
          <a:xfrm>
            <a:off x="720006" y="41336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more info:</a:t>
            </a:r>
            <a:b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Slidesgo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Slidesgo Ai Tools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Blog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FAQs</a:t>
            </a:r>
            <a:endParaRPr sz="1000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597" name="Google Shape;153;p29"/>
          <p:cNvSpPr txBox="1"/>
          <p:nvPr/>
        </p:nvSpPr>
        <p:spPr>
          <a:xfrm>
            <a:off x="4174525" y="4133675"/>
            <a:ext cx="321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visit our sister projects:</a:t>
            </a:r>
            <a:b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Freepik Ai Tools</a:t>
            </a:r>
            <a:r>
              <a:rPr lang="en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Freepik Library Resources</a:t>
            </a:r>
            <a:endParaRPr sz="10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Google Shape;297;p39"/>
          <p:cNvSpPr txBox="1">
            <a:spLocks noGrp="1"/>
          </p:cNvSpPr>
          <p:nvPr>
            <p:ph type="title"/>
          </p:nvPr>
        </p:nvSpPr>
        <p:spPr>
          <a:xfrm>
            <a:off x="691943" y="2010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dirty="0"/>
              <a:t>تیم</a:t>
            </a:r>
            <a:endParaRPr lang="en" dirty="0"/>
          </a:p>
        </p:txBody>
      </p:sp>
      <p:sp>
        <p:nvSpPr>
          <p:cNvPr id="1048776" name="Google Shape;299;p39"/>
          <p:cNvSpPr txBox="1"/>
          <p:nvPr/>
        </p:nvSpPr>
        <p:spPr>
          <a:xfrm>
            <a:off x="3623557" y="843558"/>
            <a:ext cx="1896886" cy="492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حامد کوهی - بنیان‌گذار</a:t>
            </a:r>
            <a:endParaRPr sz="1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88" name="Google Shape;321;p39"/>
          <p:cNvSpPr txBox="1"/>
          <p:nvPr/>
        </p:nvSpPr>
        <p:spPr>
          <a:xfrm>
            <a:off x="1343325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Name/Product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89" name="Google Shape;322;p39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DD/MM/YYYY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790" name="Google Shape;323;p39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D8F2BE-1C8F-6538-0CBA-B8EA2A5A96B1}"/>
              </a:ext>
            </a:extLst>
          </p:cNvPr>
          <p:cNvSpPr/>
          <p:nvPr/>
        </p:nvSpPr>
        <p:spPr>
          <a:xfrm>
            <a:off x="3275856" y="1635646"/>
            <a:ext cx="2724244" cy="13039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dirty="0">
                <a:solidFill>
                  <a:schemeClr val="tx1"/>
                </a:solidFill>
              </a:rPr>
              <a:t>همکاران هوش مصنوعی:</a:t>
            </a:r>
          </a:p>
          <a:p>
            <a:pPr algn="ctr"/>
            <a:endParaRPr lang="fa-IR" dirty="0">
              <a:solidFill>
                <a:schemeClr val="tx1"/>
              </a:solidFill>
            </a:endParaRPr>
          </a:p>
          <a:p>
            <a:pPr algn="ctr"/>
            <a:r>
              <a:rPr lang="fa-IR" dirty="0">
                <a:solidFill>
                  <a:schemeClr val="tx1"/>
                </a:solidFill>
              </a:rPr>
              <a:t>· </a:t>
            </a:r>
            <a:r>
              <a:rPr lang="en-US" dirty="0" err="1">
                <a:solidFill>
                  <a:schemeClr val="tx1"/>
                </a:solidFill>
              </a:rPr>
              <a:t>DeepSeek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fa-IR" dirty="0">
                <a:solidFill>
                  <a:schemeClr val="tx1"/>
                </a:solidFill>
              </a:rPr>
              <a:t>توسعه کد و معماری سیستم</a:t>
            </a:r>
          </a:p>
          <a:p>
            <a:pPr algn="ctr"/>
            <a:r>
              <a:rPr lang="fa-IR" dirty="0">
                <a:solidFill>
                  <a:schemeClr val="tx1"/>
                </a:solidFill>
              </a:rPr>
              <a:t>· </a:t>
            </a:r>
            <a:r>
              <a:rPr lang="en-US" dirty="0">
                <a:solidFill>
                  <a:schemeClr val="tx1"/>
                </a:solidFill>
              </a:rPr>
              <a:t>Claude: </a:t>
            </a:r>
            <a:r>
              <a:rPr lang="fa-IR" dirty="0">
                <a:solidFill>
                  <a:schemeClr val="tx1"/>
                </a:solidFill>
              </a:rPr>
              <a:t>تولید محتوا و تحلیل متنی</a:t>
            </a:r>
          </a:p>
          <a:p>
            <a:pPr algn="ctr"/>
            <a:r>
              <a:rPr lang="fa-IR" dirty="0">
                <a:solidFill>
                  <a:schemeClr val="tx1"/>
                </a:solidFill>
              </a:rPr>
              <a:t>· </a:t>
            </a:r>
            <a:r>
              <a:rPr lang="en-US" dirty="0">
                <a:solidFill>
                  <a:schemeClr val="tx1"/>
                </a:solidFill>
              </a:rPr>
              <a:t>Copilot: </a:t>
            </a:r>
            <a:r>
              <a:rPr lang="fa-IR" dirty="0">
                <a:solidFill>
                  <a:schemeClr val="tx1"/>
                </a:solidFill>
              </a:rPr>
              <a:t>تکمیل کد و پیشنهاد راه‌حل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FCADF-1A51-2F2A-CB70-32788B8C3D34}"/>
              </a:ext>
            </a:extLst>
          </p:cNvPr>
          <p:cNvSpPr/>
          <p:nvPr/>
        </p:nvSpPr>
        <p:spPr>
          <a:xfrm>
            <a:off x="2051720" y="3081471"/>
            <a:ext cx="5112568" cy="1440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dirty="0">
                <a:solidFill>
                  <a:schemeClr val="tx1"/>
                </a:solidFill>
              </a:rPr>
              <a:t>برنامه استخدام (۶ ماه آینده):</a:t>
            </a:r>
          </a:p>
          <a:p>
            <a:pPr algn="ctr"/>
            <a:r>
              <a:rPr lang="fa-IR" dirty="0">
                <a:solidFill>
                  <a:schemeClr val="tx1"/>
                </a:solidFill>
              </a:rPr>
              <a:t>۱.طراح </a:t>
            </a:r>
            <a:r>
              <a:rPr lang="en-US" dirty="0">
                <a:solidFill>
                  <a:schemeClr val="tx1"/>
                </a:solidFill>
              </a:rPr>
              <a:t>UX/UI (</a:t>
            </a:r>
            <a:r>
              <a:rPr lang="fa-IR" dirty="0">
                <a:solidFill>
                  <a:schemeClr val="tx1"/>
                </a:solidFill>
              </a:rPr>
              <a:t>ماه ۲)</a:t>
            </a:r>
          </a:p>
          <a:p>
            <a:pPr algn="ctr"/>
            <a:r>
              <a:rPr lang="fa-IR" dirty="0">
                <a:solidFill>
                  <a:schemeClr val="tx1"/>
                </a:solidFill>
              </a:rPr>
              <a:t>۲.توسعه‌دهنده ارشد </a:t>
            </a:r>
            <a:r>
              <a:rPr lang="en-US" dirty="0">
                <a:solidFill>
                  <a:schemeClr val="tx1"/>
                </a:solidFill>
              </a:rPr>
              <a:t>Back-end (</a:t>
            </a:r>
            <a:r>
              <a:rPr lang="fa-IR" dirty="0">
                <a:solidFill>
                  <a:schemeClr val="tx1"/>
                </a:solidFill>
              </a:rPr>
              <a:t>ماه ۳)</a:t>
            </a:r>
          </a:p>
          <a:p>
            <a:pPr algn="ctr"/>
            <a:r>
              <a:rPr lang="fa-IR" dirty="0">
                <a:solidFill>
                  <a:schemeClr val="tx1"/>
                </a:solidFill>
              </a:rPr>
              <a:t>۳.متخصص رشد (</a:t>
            </a:r>
            <a:r>
              <a:rPr lang="en-US" dirty="0">
                <a:solidFill>
                  <a:schemeClr val="tx1"/>
                </a:solidFill>
              </a:rPr>
              <a:t>Growth Hacker) (</a:t>
            </a:r>
            <a:r>
              <a:rPr lang="fa-IR" dirty="0">
                <a:solidFill>
                  <a:schemeClr val="tx1"/>
                </a:solidFill>
              </a:rPr>
              <a:t>ماه ۴)</a:t>
            </a:r>
          </a:p>
          <a:p>
            <a:pPr algn="ctr"/>
            <a:r>
              <a:rPr lang="fa-IR" dirty="0">
                <a:solidFill>
                  <a:schemeClr val="tx1"/>
                </a:solidFill>
              </a:rPr>
              <a:t>۴.پشتیبان فنی (ماه ۱)</a:t>
            </a:r>
          </a:p>
          <a:p>
            <a:pPr algn="ctr"/>
            <a:endParaRPr lang="fa-I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1167</Words>
  <Application>Microsoft Office PowerPoint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Inter Medium</vt:lpstr>
      <vt:lpstr>Arial</vt:lpstr>
      <vt:lpstr>Roboto</vt:lpstr>
      <vt:lpstr>Nunito Light</vt:lpstr>
      <vt:lpstr>Open Sans</vt:lpstr>
      <vt:lpstr>Inter</vt:lpstr>
      <vt:lpstr>Minimalist Pitch Deck by Slidesgo</vt:lpstr>
      <vt:lpstr>ProDecks: پلتفرم هوشمند مدیریت  پروژه‌های تیمی افزایش بهره‌ وری تیم‌ها با تحلیل‌های هوش مصنوعی</vt:lpstr>
      <vt:lpstr> مسئله - ۴ چالش اصلی تیم‌های ایرانی:</vt:lpstr>
      <vt:lpstr> راه‌حل </vt:lpstr>
      <vt:lpstr>بازار ایران - فرصتی طلایی و رو به رشد</vt:lpstr>
      <vt:lpstr> محصول - نوآوری در عمل</vt:lpstr>
      <vt:lpstr>PowerPoint Presentation</vt:lpstr>
      <vt:lpstr>مزیت رقابتی</vt:lpstr>
      <vt:lpstr>مشتری هدف </vt:lpstr>
      <vt:lpstr>Contents of this template</vt:lpstr>
      <vt:lpstr>تیم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23117RA68G</dc:creator>
  <cp:lastModifiedBy>pars iran</cp:lastModifiedBy>
  <cp:revision>9</cp:revision>
  <dcterms:created xsi:type="dcterms:W3CDTF">2026-02-05T15:58:31Z</dcterms:created>
  <dcterms:modified xsi:type="dcterms:W3CDTF">2026-02-07T18:54:46Z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a234548fe70b4447a473a3dc07e54485</vt:lpwstr>
  </property>
</Properties>
</file>